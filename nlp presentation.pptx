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pavan Lakkamsani" userId="c5356991549e5bc7" providerId="LiveId" clId="{7D8396E3-299F-4B87-90DA-DB43D11CA18C}"/>
    <pc:docChg chg="addSld modSld sldOrd">
      <pc:chgData name="Sai pavan Lakkamsani" userId="c5356991549e5bc7" providerId="LiveId" clId="{7D8396E3-299F-4B87-90DA-DB43D11CA18C}" dt="2026-07-28T06:11:08.407" v="10" actId="14100"/>
      <pc:docMkLst>
        <pc:docMk/>
      </pc:docMkLst>
      <pc:sldChg chg="addSp modSp new mod ord">
        <pc:chgData name="Sai pavan Lakkamsani" userId="c5356991549e5bc7" providerId="LiveId" clId="{7D8396E3-299F-4B87-90DA-DB43D11CA18C}" dt="2026-07-28T06:11:08.407" v="10" actId="14100"/>
        <pc:sldMkLst>
          <pc:docMk/>
          <pc:sldMk cId="1155273820" sldId="262"/>
        </pc:sldMkLst>
        <pc:picChg chg="add mod">
          <ac:chgData name="Sai pavan Lakkamsani" userId="c5356991549e5bc7" providerId="LiveId" clId="{7D8396E3-299F-4B87-90DA-DB43D11CA18C}" dt="2026-07-28T06:11:08.407" v="10" actId="14100"/>
          <ac:picMkLst>
            <pc:docMk/>
            <pc:sldMk cId="1155273820" sldId="262"/>
            <ac:picMk id="3" creationId="{6E099238-6C68-370F-5BB1-DEB4A5ADD62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1942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822960" y="5120640"/>
            <a:ext cx="914400" cy="457200"/>
          </a:xfrm>
          <a:prstGeom prst="line">
            <a:avLst/>
          </a:prstGeom>
          <a:noFill/>
          <a:ln w="19050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1188720" y="5577840"/>
            <a:ext cx="548640" cy="457200"/>
          </a:xfrm>
          <a:prstGeom prst="line">
            <a:avLst/>
          </a:prstGeom>
          <a:noFill/>
          <a:ln w="19050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5120640"/>
            <a:ext cx="365760" cy="914400"/>
          </a:xfrm>
          <a:prstGeom prst="line">
            <a:avLst/>
          </a:prstGeom>
          <a:noFill/>
          <a:ln w="19050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737360" y="4937760"/>
            <a:ext cx="640080" cy="640080"/>
          </a:xfrm>
          <a:prstGeom prst="line">
            <a:avLst/>
          </a:prstGeom>
          <a:noFill/>
          <a:ln w="19050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2011680" y="4937760"/>
            <a:ext cx="365760" cy="1097280"/>
          </a:xfrm>
          <a:prstGeom prst="line">
            <a:avLst/>
          </a:prstGeom>
          <a:noFill/>
          <a:ln w="19050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6035040"/>
            <a:ext cx="822960" cy="9144"/>
          </a:xfrm>
          <a:prstGeom prst="line">
            <a:avLst/>
          </a:prstGeom>
          <a:noFill/>
          <a:ln w="19050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" y="5038344"/>
            <a:ext cx="164592" cy="164592"/>
          </a:xfrm>
          <a:prstGeom prst="ellipse">
            <a:avLst/>
          </a:prstGeom>
          <a:solidFill>
            <a:srgbClr val="E8F1F2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55064" y="5495544"/>
            <a:ext cx="164592" cy="164592"/>
          </a:xfrm>
          <a:prstGeom prst="ellipse">
            <a:avLst/>
          </a:prstGeom>
          <a:solidFill>
            <a:srgbClr val="E8F1F2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6424" y="5952744"/>
            <a:ext cx="164592" cy="164592"/>
          </a:xfrm>
          <a:prstGeom prst="ellipse">
            <a:avLst/>
          </a:prstGeom>
          <a:solidFill>
            <a:srgbClr val="E8F1F2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95144" y="4855464"/>
            <a:ext cx="164592" cy="164592"/>
          </a:xfrm>
          <a:prstGeom prst="ellipse">
            <a:avLst/>
          </a:prstGeom>
          <a:solidFill>
            <a:srgbClr val="6FFFB0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29384" y="5952744"/>
            <a:ext cx="164592" cy="164592"/>
          </a:xfrm>
          <a:prstGeom prst="ellipse">
            <a:avLst/>
          </a:prstGeom>
          <a:solidFill>
            <a:srgbClr val="E8F1F2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FF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2514600"/>
            <a:ext cx="8869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Analysis in NLP</a:t>
            </a:r>
            <a:endParaRPr lang="en-US" sz="4600" dirty="0"/>
          </a:p>
        </p:txBody>
      </p:sp>
      <p:sp>
        <p:nvSpPr>
          <p:cNvPr id="18" name="Shape 16"/>
          <p:cNvSpPr/>
          <p:nvPr/>
        </p:nvSpPr>
        <p:spPr>
          <a:xfrm>
            <a:off x="640080" y="3703320"/>
            <a:ext cx="1463040" cy="0"/>
          </a:xfrm>
          <a:prstGeom prst="line">
            <a:avLst/>
          </a:prstGeom>
          <a:noFill/>
          <a:ln w="31750">
            <a:solidFill>
              <a:srgbClr val="6FFFB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NLP?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(NLP) is the field of AI that helps computers read, understand, and respond to human language — the way people naturally speak or write it.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26060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Text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1605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 is walking on the road.”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0" y="28346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233172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26060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66160" y="41605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words: He / is / walking / on / the / road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28346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233172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0" y="26060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41605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out meaning — who is doing what, and where.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78240" y="28346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52560" y="233172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875520" y="26060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9875520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3544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35440" y="41605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understands: he, walking, on the road.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5257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analysis is the “Understand” step — the heart of how NLP systems grasp meaning.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 vs. Semantics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layers of understanding language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13315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74520"/>
            <a:ext cx="5257800" cy="594360"/>
          </a:xfrm>
          <a:prstGeom prst="roundRect">
            <a:avLst>
              <a:gd name="adj" fmla="val 18462"/>
            </a:avLst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40280"/>
            <a:ext cx="525780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grammar rules — how words are arranged into correct sentences.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657600"/>
            <a:ext cx="4709160" cy="2148840"/>
          </a:xfrm>
          <a:prstGeom prst="roundRect">
            <a:avLst>
              <a:gd name="adj" fmla="val 3404"/>
            </a:avLst>
          </a:prstGeom>
          <a:solidFill>
            <a:srgbClr val="0B254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79476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406908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 is walking on the road.”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4754880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word order — subject, verb, and place fit together properly.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18745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13315C"/>
          </a:solidFill>
          <a:ln/>
        </p:spPr>
      </p:sp>
      <p:sp>
        <p:nvSpPr>
          <p:cNvPr id="14" name="Shape 12"/>
          <p:cNvSpPr/>
          <p:nvPr/>
        </p:nvSpPr>
        <p:spPr>
          <a:xfrm>
            <a:off x="6172200" y="1874520"/>
            <a:ext cx="5257800" cy="594360"/>
          </a:xfrm>
          <a:prstGeom prst="roundRect">
            <a:avLst>
              <a:gd name="adj" fmla="val 18462"/>
            </a:avLst>
          </a:prstGeom>
          <a:solidFill>
            <a:srgbClr val="6FFFB0"/>
          </a:solidFill>
          <a:ln/>
        </p:spPr>
      </p:sp>
      <p:sp>
        <p:nvSpPr>
          <p:cNvPr id="15" name="Shape 13"/>
          <p:cNvSpPr/>
          <p:nvPr/>
        </p:nvSpPr>
        <p:spPr>
          <a:xfrm>
            <a:off x="6172200" y="2240280"/>
            <a:ext cx="5257800" cy="228600"/>
          </a:xfrm>
          <a:prstGeom prst="rect">
            <a:avLst/>
          </a:prstGeom>
          <a:solidFill>
            <a:srgbClr val="6FFFB0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87452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46520" y="26974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meaning — what the words and sentence actually convey.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46520" y="3657600"/>
            <a:ext cx="4709160" cy="2148840"/>
          </a:xfrm>
          <a:prstGeom prst="roundRect">
            <a:avLst>
              <a:gd name="adj" fmla="val 3404"/>
            </a:avLst>
          </a:prstGeom>
          <a:solidFill>
            <a:srgbClr val="0B2545"/>
          </a:solidFill>
          <a:ln w="12700">
            <a:solidFill>
              <a:srgbClr val="6FFF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379476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F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29400" y="406908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“She is eating an apple.”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29400" y="4754880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meaning is clear — she is the one doing the eating, and the apple is what she eats.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 &amp; Process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analysis is the process of understanding the meaning behind words and sentences — going beyond grammar to grasp intent and context.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560320" cy="28346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25603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Lexical Analysis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40690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the meaning of each individual word.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24231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2286000"/>
            <a:ext cx="2560320" cy="28346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25603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33375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Disambiguation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11880" y="40690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correct sense using context.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24231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2286000"/>
            <a:ext cx="2560320" cy="28346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23760" y="25603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33375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 Mapping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46520" y="40690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words to see how they relate.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78240" y="24231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52560" y="2286000"/>
            <a:ext cx="2560320" cy="28346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58400" y="25603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35440" y="33375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 Representation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81160" y="40690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structured meaning the system can use.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F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 is walking on the road.” → who: he · action: walking · place: road.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Concepts &amp; Example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of meaning — each shown with a real example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60320" cy="4572000"/>
          </a:xfrm>
          <a:prstGeom prst="roundRect">
            <a:avLst>
              <a:gd name="adj" fmla="val 3571"/>
            </a:avLst>
          </a:prstGeom>
          <a:solidFill>
            <a:srgbClr val="13315C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2011680"/>
            <a:ext cx="822960" cy="822960"/>
          </a:xfrm>
          <a:prstGeom prst="ellipse">
            <a:avLst/>
          </a:prstGeom>
          <a:solidFill>
            <a:srgbClr val="6FFFB0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Sense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Disambiguation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word, different meaning.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4297680"/>
            <a:ext cx="2286000" cy="1828800"/>
          </a:xfrm>
          <a:prstGeom prst="roundRect">
            <a:avLst>
              <a:gd name="adj" fmla="val 3000"/>
            </a:avLst>
          </a:prstGeom>
          <a:solidFill>
            <a:srgbClr val="0B2545"/>
          </a:solidFill>
          <a:ln w="9525">
            <a:solidFill>
              <a:srgbClr val="6FFF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3891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FF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4617720"/>
            <a:ext cx="20116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 sat by the bank.” → bank = riverbank, not a place that holds money.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83280" y="1737360"/>
            <a:ext cx="2560320" cy="4572000"/>
          </a:xfrm>
          <a:prstGeom prst="roundRect">
            <a:avLst>
              <a:gd name="adj" fmla="val 3571"/>
            </a:avLst>
          </a:prstGeom>
          <a:solidFill>
            <a:srgbClr val="13315C"/>
          </a:solidFill>
          <a:ln/>
        </p:spPr>
      </p:sp>
      <p:sp>
        <p:nvSpPr>
          <p:cNvPr id="13" name="Shape 11"/>
          <p:cNvSpPr/>
          <p:nvPr/>
        </p:nvSpPr>
        <p:spPr>
          <a:xfrm>
            <a:off x="4251960" y="2011680"/>
            <a:ext cx="822960" cy="822960"/>
          </a:xfrm>
          <a:prstGeom prst="ellipse">
            <a:avLst/>
          </a:prstGeom>
          <a:solidFill>
            <a:srgbClr val="6FFFB0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2971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Entity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566160" y="3657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names, places, and dates.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520440" y="4297680"/>
            <a:ext cx="2286000" cy="1828800"/>
          </a:xfrm>
          <a:prstGeom prst="roundRect">
            <a:avLst>
              <a:gd name="adj" fmla="val 3000"/>
            </a:avLst>
          </a:prstGeom>
          <a:solidFill>
            <a:srgbClr val="0B2545"/>
          </a:solidFill>
          <a:ln w="9525">
            <a:solidFill>
              <a:srgbClr val="6FFF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43891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FF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0" y="4617720"/>
            <a:ext cx="20116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met Priya at the market on Sunday.” → Priya = person, market = place, Sunday = date.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1737360"/>
            <a:ext cx="2560320" cy="4572000"/>
          </a:xfrm>
          <a:prstGeom prst="roundRect">
            <a:avLst>
              <a:gd name="adj" fmla="val 3571"/>
            </a:avLst>
          </a:prstGeom>
          <a:solidFill>
            <a:srgbClr val="13315C"/>
          </a:solidFill>
          <a:ln/>
        </p:spPr>
      </p:sp>
      <p:sp>
        <p:nvSpPr>
          <p:cNvPr id="21" name="Shape 19"/>
          <p:cNvSpPr/>
          <p:nvPr/>
        </p:nvSpPr>
        <p:spPr>
          <a:xfrm>
            <a:off x="7086600" y="2011680"/>
            <a:ext cx="822960" cy="822960"/>
          </a:xfrm>
          <a:prstGeom prst="ellipse">
            <a:avLst/>
          </a:prstGeom>
          <a:solidFill>
            <a:srgbClr val="6FFFB0"/>
          </a:solidFill>
          <a:ln/>
        </p:spPr>
      </p:sp>
      <p:sp>
        <p:nvSpPr>
          <p:cNvPr id="22" name="Text 20"/>
          <p:cNvSpPr/>
          <p:nvPr/>
        </p:nvSpPr>
        <p:spPr>
          <a:xfrm>
            <a:off x="708660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2971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Role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0800" y="3657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who did what to whom.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55080" y="4297680"/>
            <a:ext cx="2286000" cy="1828800"/>
          </a:xfrm>
          <a:prstGeom prst="roundRect">
            <a:avLst>
              <a:gd name="adj" fmla="val 3000"/>
            </a:avLst>
          </a:prstGeom>
          <a:solidFill>
            <a:srgbClr val="0B2545"/>
          </a:solidFill>
          <a:ln w="9525">
            <a:solidFill>
              <a:srgbClr val="6FFF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3891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FF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92240" y="4617720"/>
            <a:ext cx="20116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“John gave Mary a book.” → John did the giving, Mary received it.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052560" y="1737360"/>
            <a:ext cx="2560320" cy="4572000"/>
          </a:xfrm>
          <a:prstGeom prst="roundRect">
            <a:avLst>
              <a:gd name="adj" fmla="val 3571"/>
            </a:avLst>
          </a:prstGeom>
          <a:solidFill>
            <a:srgbClr val="13315C"/>
          </a:solidFill>
          <a:ln/>
        </p:spPr>
      </p:sp>
      <p:sp>
        <p:nvSpPr>
          <p:cNvPr id="29" name="Shape 27"/>
          <p:cNvSpPr/>
          <p:nvPr/>
        </p:nvSpPr>
        <p:spPr>
          <a:xfrm>
            <a:off x="9921240" y="2011680"/>
            <a:ext cx="822960" cy="822960"/>
          </a:xfrm>
          <a:prstGeom prst="ellipse">
            <a:avLst/>
          </a:prstGeom>
          <a:solidFill>
            <a:srgbClr val="6FFFB0"/>
          </a:solidFill>
          <a:ln/>
        </p:spPr>
      </p:sp>
      <p:sp>
        <p:nvSpPr>
          <p:cNvPr id="30" name="Text 28"/>
          <p:cNvSpPr/>
          <p:nvPr/>
        </p:nvSpPr>
        <p:spPr>
          <a:xfrm>
            <a:off x="992124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89720" y="2971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235440" y="3657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words into numbers by meaning.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189720" y="4297680"/>
            <a:ext cx="2286000" cy="1828800"/>
          </a:xfrm>
          <a:prstGeom prst="roundRect">
            <a:avLst>
              <a:gd name="adj" fmla="val 3000"/>
            </a:avLst>
          </a:prstGeom>
          <a:solidFill>
            <a:srgbClr val="0B2545"/>
          </a:solidFill>
          <a:ln w="9525">
            <a:solidFill>
              <a:srgbClr val="6FFF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0" y="43891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FF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326880" y="4617720"/>
            <a:ext cx="20116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“Happy” and “glad” are stored close together because they mean nearly the same thing.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&amp; 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B1B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280160"/>
            <a:ext cx="5394960" cy="54864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539496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4800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500"/>
              </a:spcAft>
              <a:buSzPct val="100000"/>
              <a:buChar char="▪"/>
            </a:pPr>
            <a:r>
              <a:rPr lang="en-US" sz="14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 that understand user intent</a:t>
            </a:r>
            <a:endParaRPr lang="en-US" sz="1400" dirty="0"/>
          </a:p>
          <a:p>
            <a:pPr marL="228600" indent="-228600">
              <a:spcAft>
                <a:spcPts val="1500"/>
              </a:spcAft>
              <a:buSzPct val="100000"/>
              <a:buChar char="▪"/>
            </a:pPr>
            <a:r>
              <a:rPr lang="en-US" sz="14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&amp; virtual assistants (Siri, Alexa)</a:t>
            </a:r>
            <a:endParaRPr lang="en-US" sz="1400" dirty="0"/>
          </a:p>
          <a:p>
            <a:pPr marL="228600" indent="-228600">
              <a:spcAft>
                <a:spcPts val="1500"/>
              </a:spcAft>
              <a:buSzPct val="100000"/>
              <a:buChar char="▪"/>
            </a:pPr>
            <a:r>
              <a:rPr lang="en-US" sz="14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for reviews &amp; social media</a:t>
            </a:r>
            <a:endParaRPr lang="en-US" sz="1400" dirty="0"/>
          </a:p>
          <a:p>
            <a:pPr marL="228600" indent="-228600">
              <a:spcAft>
                <a:spcPts val="1500"/>
              </a:spcAft>
              <a:buSzPct val="100000"/>
              <a:buChar char="▪"/>
            </a:pPr>
            <a:r>
              <a:rPr lang="en-US" sz="14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 between languages</a:t>
            </a:r>
            <a:endParaRPr lang="en-US" sz="1400" dirty="0"/>
          </a:p>
          <a:p>
            <a:pPr marL="228600" indent="-228600">
              <a:spcAft>
                <a:spcPts val="1500"/>
              </a:spcAft>
              <a:buSzPct val="100000"/>
              <a:buChar char="▪"/>
            </a:pPr>
            <a:r>
              <a:rPr lang="en-US" sz="14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summarization &amp; question answering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0B2545"/>
          </a:solidFill>
          <a:ln/>
          <a:effectLst>
            <a:outerShdw blurRad="101600" dist="38100" dir="5400000" algn="bl" rotWithShape="0">
              <a:srgbClr val="1B1B1B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4630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FF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37960" y="2194560"/>
            <a:ext cx="4800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analysis gives machines the ability to grasp meaning, not just match words. It turns raw text into structured understanding — the foundation for search, translation, and conversational AI.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37960" y="3840480"/>
            <a:ext cx="47548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402336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6FF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technology that responds to what we mean, not just what we type.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099238-6C68-370F-5BB1-DEB4A5ADD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971" y="1259633"/>
            <a:ext cx="9769152" cy="487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273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537</Words>
  <Application>Microsoft Office PowerPoint</Application>
  <PresentationFormat>Widescreen</PresentationFormat>
  <Paragraphs>92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 pavan Lakkamsani</cp:lastModifiedBy>
  <cp:revision>3</cp:revision>
  <dcterms:created xsi:type="dcterms:W3CDTF">2026-07-16T04:03:54Z</dcterms:created>
  <dcterms:modified xsi:type="dcterms:W3CDTF">2026-07-28T06:11:14Z</dcterms:modified>
</cp:coreProperties>
</file>